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43EEE8B-8363-492A-9D1E-7C21F3F9215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560" cy="400824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679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Заболевания сердечно-сосудистой системы приводят являются причиной летального исхода большинства людей на планете.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Преждевременное диагностирование этих заболеваний актуально и будет актуально.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Следствием заболеваний является стенозирование (атеросклероз) артериальных сосудов, то есть их сужение из-за накопления отложений на их стенках.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Стеноз приводит к меньшей проходимости крови и, как следствие, к ухудшенному кровоснабжению органов ниже по течению.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Устранение стенозов в критически важных для жизнедеятельности сосудов часто является необходимым.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Инвазивные методы диагностики включают в себя внедрение катетера, маленькой трубочки, вводимой через артерии до места в сосуде, после чего в место сужения вставляется расширяющий просвет стент.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Однако перед подобной операцией необходимо убедиться, что этот стеноз действительно оказывает критическое влияние на здоровье, поскольку инвазивное вмешательство опасно.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560" cy="40082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На настоящий момент наиболее популярным и обоснованным методом оценивания степени стенозов является индекс фракционного резерва кровотока (Fractional Flow Reserve, FFR).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Одним из его ключевых преимуществ является то, что его возможно рассчитать из персонализированной мат.модели пациента, основанной на медицинских снимках (КТ, МРТ) проблемных сосудов.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Длина артериальных сосудов во много раз превышает поперечные размеры, поэтому для моделирования часто применяют одномерные модели кровотока.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05117F-86A4-4F17-88A9-CE468B2E0B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212C90-2A7A-4A7B-A8C7-C475876E37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2F427A-ACE5-40E4-A0C9-2B27B1DAFD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A2456F-5F30-4BD7-85A2-4760A731AA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5EF658-9D3F-4FCF-B6A3-4CDFE08FDD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39D8C4-F6DF-4595-810A-5695F9F874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20F2D7-E29B-412C-A408-2420EABE66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523CE1-8291-4997-9A07-4CAB41F7E9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E6A950-FF7E-4E9B-9ED9-2A86E564A4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669E52-1E13-43B2-8785-6E34C748CA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FC251E-BB5E-4B5F-9563-D18E8A1981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E695AA-321A-42D6-89F6-F2B58CF873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0E4C7B-10EF-4F47-9C83-6BF76EAE7B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9528163-64D3-49E7-A621-C9CE2AF67A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3A4EF4-F994-4F14-8EAE-E04472F3CD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67207E-F834-4F57-97A3-CE1EF4D274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D66B85-EB77-4FCD-BA58-06E52C716E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093375-AE7C-4968-85C2-B517C21D48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47CC32-8E4B-49DE-837A-3850121994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D29905-9544-4A3B-B07D-06650D032F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82B988-D80E-484D-BA44-9975AD1771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C2D22F-2191-4B2D-8991-4907D45643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C91E88-F49D-4E7D-BA13-8B3FCDDA2C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9D5083-806D-4020-90FB-EB26FE8DF8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BBE799-E284-4D0C-882C-829454F8F5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CF1201-96B2-4369-8940-98609FEF45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ECAC56F-D5B1-4788-A074-82A9048246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E53A76C-E385-4B76-BBCD-8BE4F969CE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2D1C08-F5F4-4794-80BA-3E0708CFB0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8ADDFE4-C60A-48F3-BA08-5FFADA9C7B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0ECAD55-1A64-4BA6-98DD-8E0D446921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183C509-3EF6-4538-A9B1-56BEAB58CB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73DAFA-19B9-4DF0-BCE3-33D1316EB7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1FB7A2E-3B8D-4981-BD05-E240AE5429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A895B8-B023-41CB-82BB-6B3289B489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1364326-6175-4FC4-A8F2-F3D0C4E3B1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ABC0CD-CE61-4B85-BB71-135464E1F9C4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</a:t>
            </a:r>
            <a:r>
              <a:rPr b="0" lang="en-US" sz="1800" spc="-1" strike="noStrike">
                <a:latin typeface="Arial"/>
              </a:rPr>
              <a:t>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B49458-7704-462F-924B-7BDB836F0963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7521BF-88A1-4A78-A70B-8D1AB72A289B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523880" y="68580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Разработка моделей стеноза артерии и исследование зависимости гемодинамических индексов от параметров стеноза.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259920" y="3200400"/>
            <a:ext cx="11733480" cy="15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Кураторы проекта:</a:t>
            </a:r>
            <a:endParaRPr b="0" lang="en-US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Гамилов Тимур Мударисович</a:t>
            </a:r>
            <a:endParaRPr b="0" lang="en-US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Янбарисов Руслан Маратович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3"/>
          <p:cNvSpPr/>
          <p:nvPr/>
        </p:nvSpPr>
        <p:spPr>
          <a:xfrm>
            <a:off x="464040" y="105840"/>
            <a:ext cx="1807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Стенозы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32" name="Рисунок 4" descr="1399118247_stenoz.jpg"/>
          <p:cNvPicPr/>
          <p:nvPr/>
        </p:nvPicPr>
        <p:blipFill>
          <a:blip r:embed="rId1"/>
          <a:stretch/>
        </p:blipFill>
        <p:spPr>
          <a:xfrm>
            <a:off x="382320" y="2026080"/>
            <a:ext cx="4879440" cy="4343400"/>
          </a:xfrm>
          <a:prstGeom prst="rect">
            <a:avLst/>
          </a:prstGeom>
          <a:ln w="0">
            <a:noFill/>
          </a:ln>
        </p:spPr>
      </p:pic>
      <p:sp>
        <p:nvSpPr>
          <p:cNvPr id="133" name="TextBox 5"/>
          <p:cNvSpPr/>
          <p:nvPr/>
        </p:nvSpPr>
        <p:spPr>
          <a:xfrm>
            <a:off x="1381680" y="1299600"/>
            <a:ext cx="2252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Коронарные артерии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8302320" y="383040"/>
            <a:ext cx="1719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Сонная артерия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35" name="Picture 2" descr="Стеноз сонной артерии - симптомы, лечение по клиническим рекомендациям"/>
          <p:cNvPicPr/>
          <p:nvPr/>
        </p:nvPicPr>
        <p:blipFill>
          <a:blip r:embed="rId2"/>
          <a:stretch/>
        </p:blipFill>
        <p:spPr>
          <a:xfrm>
            <a:off x="6192360" y="823680"/>
            <a:ext cx="5713920" cy="293256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4" descr="Государственное автономное учреждение здравоохранения Республики Татарстан  &quot;Больница скорой медицинской помощи&quot;"/>
          <p:cNvPicPr/>
          <p:nvPr/>
        </p:nvPicPr>
        <p:blipFill>
          <a:blip r:embed="rId3"/>
          <a:stretch/>
        </p:blipFill>
        <p:spPr>
          <a:xfrm>
            <a:off x="7998120" y="4567320"/>
            <a:ext cx="2719800" cy="2193840"/>
          </a:xfrm>
          <a:prstGeom prst="rect">
            <a:avLst/>
          </a:prstGeom>
          <a:ln w="0">
            <a:noFill/>
          </a:ln>
        </p:spPr>
      </p:pic>
      <p:sp>
        <p:nvSpPr>
          <p:cNvPr id="137" name="TextBox 7"/>
          <p:cNvSpPr/>
          <p:nvPr/>
        </p:nvSpPr>
        <p:spPr>
          <a:xfrm>
            <a:off x="8124840" y="4197960"/>
            <a:ext cx="207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Бедренная артерия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2" descr="C:\Users\Wenli\Documents\study\papers, seminars, conferences\2015.06.29 CMBE15\CMBE15\CMBE15\fig1.png"/>
          <p:cNvPicPr/>
          <p:nvPr/>
        </p:nvPicPr>
        <p:blipFill>
          <a:blip r:embed="rId1"/>
          <a:stretch/>
        </p:blipFill>
        <p:spPr>
          <a:xfrm>
            <a:off x="1879200" y="764640"/>
            <a:ext cx="8432280" cy="5585400"/>
          </a:xfrm>
          <a:prstGeom prst="rect">
            <a:avLst/>
          </a:prstGeom>
          <a:ln w="0">
            <a:noFill/>
          </a:ln>
        </p:spPr>
      </p:pic>
      <p:sp>
        <p:nvSpPr>
          <p:cNvPr id="139" name="TextBox 1"/>
          <p:cNvSpPr/>
          <p:nvPr/>
        </p:nvSpPr>
        <p:spPr>
          <a:xfrm>
            <a:off x="1215720" y="145080"/>
            <a:ext cx="48528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Извлечение структуры сосудов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3"/>
          <p:cNvSpPr/>
          <p:nvPr/>
        </p:nvSpPr>
        <p:spPr>
          <a:xfrm>
            <a:off x="1068840" y="180720"/>
            <a:ext cx="4404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Гемодинамические расчеты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41" name="Рисунок 4" descr=""/>
          <p:cNvPicPr/>
          <p:nvPr/>
        </p:nvPicPr>
        <p:blipFill>
          <a:blip r:embed="rId1"/>
          <a:stretch/>
        </p:blipFill>
        <p:spPr>
          <a:xfrm>
            <a:off x="2588040" y="1257840"/>
            <a:ext cx="7014600" cy="5039640"/>
          </a:xfrm>
          <a:prstGeom prst="rect">
            <a:avLst/>
          </a:prstGeom>
          <a:ln w="0">
            <a:noFill/>
          </a:ln>
        </p:spPr>
      </p:pic>
      <p:sp>
        <p:nvSpPr>
          <p:cNvPr id="142" name="TextBox 5"/>
          <p:cNvSpPr/>
          <p:nvPr/>
        </p:nvSpPr>
        <p:spPr>
          <a:xfrm>
            <a:off x="8069400" y="6365160"/>
            <a:ext cx="1582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HeartFlow (US)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2" descr="Model of stenosis in a 1D-vessel. "/>
          <p:cNvPicPr/>
          <p:nvPr/>
        </p:nvPicPr>
        <p:blipFill>
          <a:blip r:embed="rId1"/>
          <a:stretch/>
        </p:blipFill>
        <p:spPr>
          <a:xfrm>
            <a:off x="914400" y="3429000"/>
            <a:ext cx="4668480" cy="1913400"/>
          </a:xfrm>
          <a:prstGeom prst="rect">
            <a:avLst/>
          </a:prstGeom>
          <a:ln w="0">
            <a:noFill/>
          </a:ln>
        </p:spPr>
      </p:pic>
      <p:sp>
        <p:nvSpPr>
          <p:cNvPr id="144" name="TextBox 11"/>
          <p:cNvSpPr/>
          <p:nvPr/>
        </p:nvSpPr>
        <p:spPr>
          <a:xfrm>
            <a:off x="1372320" y="256680"/>
            <a:ext cx="26416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Модели стеноза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45" name="Picture 4" descr="Stenosis model used for present the simulation."/>
          <p:cNvPicPr/>
          <p:nvPr/>
        </p:nvPicPr>
        <p:blipFill>
          <a:blip r:embed="rId2"/>
          <a:stretch/>
        </p:blipFill>
        <p:spPr>
          <a:xfrm>
            <a:off x="6400800" y="3048840"/>
            <a:ext cx="5333040" cy="220860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146" name=""/>
              <p:cNvSpPr txBox="1"/>
              <p:nvPr/>
            </p:nvSpPr>
            <p:spPr>
              <a:xfrm>
                <a:off x="6629400" y="1828800"/>
                <a:ext cx="4569120" cy="913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Δ</m:t>
                        </m:r>
                        <m:r>
                          <m:t xml:space="preserve">p</m:t>
                        </m:r>
                      </m:num>
                      <m:den>
                        <m:r>
                          <m:t xml:space="preserve">ρ</m:t>
                        </m:r>
                        <m:sSubSup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  <m:sup>
                            <m:r>
                              <m:t xml:space="preserve">2</m:t>
                            </m:r>
                          </m:sup>
                        </m:sSubSup>
                      </m:den>
                    </m:f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K</m:t>
                            </m:r>
                          </m:e>
                          <m:sub>
                            <m:r>
                              <m:t xml:space="preserve">v</m:t>
                            </m:r>
                          </m:sub>
                        </m:sSub>
                      </m:num>
                      <m:den/>
                    </m:f>
                    <m:r>
                      <m:t xml:space="preserve">+</m:t>
                    </m:r>
                    <m:f>
                      <m:num>
                        <m:sSub>
                          <m:e>
                            <m:r>
                              <m:t xml:space="preserve">K</m:t>
                            </m:r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sSub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1</m:t>
                                    </m:r>
                                  </m:sub>
                                </m:sSub>
                              </m:den>
                            </m:f>
                            <m:r>
                              <m:t xml:space="preserve">−</m:t>
                            </m:r>
                            <m:r>
                              <m:t xml:space="preserve">1</m:t>
                            </m:r>
                          </m:e>
                        </m:d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/>
      </mc:AlternateContent>
      <p:sp>
        <p:nvSpPr>
          <p:cNvPr id="147" name=""/>
          <p:cNvSpPr/>
          <p:nvPr/>
        </p:nvSpPr>
        <p:spPr>
          <a:xfrm>
            <a:off x="8001000" y="2286000"/>
            <a:ext cx="91440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3200" spc="-1" strike="noStrike">
                <a:latin typeface="Times New Roman"/>
              </a:rPr>
              <a:t>Re</a:t>
            </a:r>
            <a:endParaRPr b="0" lang="en-US" sz="32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8" name=""/>
              <p:cNvSpPr txBox="1"/>
              <p:nvPr/>
            </p:nvSpPr>
            <p:spPr>
              <a:xfrm>
                <a:off x="1828800" y="1828800"/>
                <a:ext cx="2742840" cy="548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proximal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distal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Δ</m:t>
                    </m:r>
                    <m:r>
                      <m:t xml:space="preserve">P</m:t>
                    </m: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algn="ctr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pc="-1" strike="noStrike">
                <a:solidFill>
                  <a:srgbClr val="000000"/>
                </a:solidFill>
                <a:latin typeface="Calibri"/>
              </a:rPr>
              <a:t>Цели и задачи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919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Разработка альтернативных моделей стеноза: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padmaa"/>
              <a:buChar char="-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0D-1D сопряжение на стенозах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padmaa"/>
              <a:buChar char="-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Учет стеноза через введение вязких сил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padmaa"/>
              <a:buChar char="-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(*) Учет переменных физ.свойств сосуда вдоль его длины</a:t>
            </a: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Исследование зависимости гемодинамически значимых индексов в артериях: 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padmaa"/>
              <a:buChar char="-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От геом. характеристик стеноза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padmaa"/>
              <a:buChar char="-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От вида входного потока (пульсирующий/постоянный)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  <Words>18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2023-08-31T11:05:23Z</dcterms:created>
  <dc:creator>Тимур Гамилов</dc:creator>
  <dc:description/>
  <dc:language>en-US</dc:language>
  <cp:lastModifiedBy/>
  <dcterms:modified xsi:type="dcterms:W3CDTF">2023-09-01T09:48:30Z</dcterms:modified>
  <cp:revision>15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4</vt:i4>
  </property>
</Properties>
</file>